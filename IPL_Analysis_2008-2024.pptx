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6400800" cy="6400800"/>
          </a:xfrm>
          <a:prstGeom prst="ellipse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3840480" cy="3840480"/>
          </a:xfrm>
          <a:prstGeom prst="ellipse">
            <a:avLst/>
          </a:prstGeom>
          <a:solidFill>
            <a:srgbClr val="0F2A50"/>
          </a:solidFill>
          <a:ln/>
        </p:spPr>
      </p:sp>
      <p:pic>
        <p:nvPicPr>
          <p:cNvPr id="4" name="Image 0" descr="b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583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ANALYTICS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Premier League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Ball-by-Ball Performance Analysis, 2008–2024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Tableau-driven analytics dashboard built on 17 seasons of match and delivery-level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709160"/>
            <a:ext cx="3246120" cy="1051560"/>
          </a:xfrm>
          <a:prstGeom prst="rect">
            <a:avLst>
              <a:gd name="adj" fmla="val 6957"/>
            </a:avLst>
          </a:prstGeom>
          <a:solidFill>
            <a:srgbClr val="0F2A50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8646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matches.csv  •  deliveries.csv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4709160"/>
            <a:ext cx="3246120" cy="1051560"/>
          </a:xfrm>
          <a:prstGeom prst="rect">
            <a:avLst>
              <a:gd name="adj" fmla="val 6957"/>
            </a:avLst>
          </a:prstGeom>
          <a:solidFill>
            <a:srgbClr val="0F2A50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8646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Seasons  •  2008–2024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4709160"/>
            <a:ext cx="3246120" cy="1051560"/>
          </a:xfrm>
          <a:prstGeom prst="rect">
            <a:avLst>
              <a:gd name="adj" fmla="val 6957"/>
            </a:avLst>
          </a:prstGeom>
          <a:solidFill>
            <a:srgbClr val="0F2A50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48646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4572000"/>
          </a:xfrm>
          <a:prstGeom prst="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8C97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seasons of the IPL have produced millions of ball-by-ball records — yet raw match and delivery logs, on their own, cannot answer the questions that matter to teams, broadcasters, and fans.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300837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and players have consistently performed best across seasons?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72160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66674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winning the toss meaningfully influence the match outcome?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7997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32511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venues and home/away conditions shape scoring and results?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038344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38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98348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most impactful batters and bowlers by strike rate, economy, and match-defining innings?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4434840" cy="4572000"/>
          </a:xfrm>
          <a:prstGeom prst="rect">
            <a:avLst>
              <a:gd name="adj" fmla="val 1237"/>
            </a:avLst>
          </a:prstGeom>
          <a:solidFill>
            <a:srgbClr val="0B1F3A"/>
          </a:solidFill>
          <a:ln/>
        </p:spPr>
      </p:sp>
      <p:pic>
        <p:nvPicPr>
          <p:cNvPr id="19" name="Image 0" descr="magn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82880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43800" y="2468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unified analytical view...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43800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863840" y="3246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stay locked in disconnected CSV files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43800" y="38130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63840" y="38130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player, and toss trends are hard to compare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543800" y="437997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63840" y="43799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Season-over-season patterns go unnoticed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43800" y="49469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863840" y="494690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rely on anecdote, not evidence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543800" y="5623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interactive Tableau dashboard to turn raw IPL data into clear, explorable insight.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06240"/>
          </a:xfrm>
          <a:prstGeom prst="rect">
            <a:avLst>
              <a:gd name="adj" fmla="val 2712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9659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1762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the Game Over Time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run rates, match totals, and outcomes have evolved across all 17 IPL seasons.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97480" cy="4206240"/>
          </a:xfrm>
          <a:prstGeom prst="rect">
            <a:avLst>
              <a:gd name="adj" fmla="val 2712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19659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1762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063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Teams &amp; Players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37947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teams by wins and batters/bowlers by runs, strike rate, economy, and boundary output.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97480" cy="4206240"/>
          </a:xfrm>
          <a:prstGeom prst="rect">
            <a:avLst>
              <a:gd name="adj" fmla="val 2712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1464" y="19659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t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17627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063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Toss Impact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01384" y="37947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winning the toss — and the choice made — correlates with winning the match.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97480" cy="4206240"/>
          </a:xfrm>
          <a:prstGeom prst="rect">
            <a:avLst>
              <a:gd name="adj" fmla="val 2712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03536" y="19659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ven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48" y="217627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063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Venue Effects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63456" y="37947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scoring patterns and match outcomes across grounds and cities.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5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matches.csv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match — the game-level record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season, date, city, venue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300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team1, team2, toss_winner, toss_decision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721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winner, result, result_margin, method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142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player_of_match, umpire1, umpire2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4572000"/>
            <a:ext cx="48463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~1,100 matches across 17 seasons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season trends, toss analysis, venue &amp; team win comparisons.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94960" cy="4480560"/>
          </a:xfrm>
          <a:prstGeom prst="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6" name="Image 1" descr="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847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deliveries.csv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ball — the delivery-level record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379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match_id, inning, over, ball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37960" y="3300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batter, non_striker, bowler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3721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batsman_runs, extra_runs, total_runs, extras_type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37960" y="4142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is_wicket, player_dismissed, dismissal_kind, fielder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92240" y="4572000"/>
            <a:ext cx="48463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9224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 lakh+ ball-by-ball deliveries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49224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batting/bowling metrics, strike rate, boundaries, dismissals.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Metrics Behind the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 were transformed into cricket-specific measures using Tableau calculated fields, so every worksheet reasons in the language of the game.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SUM(batsman_runs) / COUNT(ball) ×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tempo per player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96596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Economy 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5328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SUM(total_runs) / (COUNT(ball) / 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cost per over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6596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/ Dot Ball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25328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batsman_runs ≥ 4 … / IF total_runs = 0 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75904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vs. defensive deliveries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62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Total Runs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6460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[batter]: SUM(batsman_runs)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aggregate per batter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429768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429768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462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Result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486460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winner = toss_winner THEN “Won Toss &amp; Match” 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9432" y="5715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Toss-to-outcome linkage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4297680"/>
            <a:ext cx="3566160" cy="2103120"/>
          </a:xfrm>
          <a:prstGeom prst="rect">
            <a:avLst>
              <a:gd name="adj" fmla="val 304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4297680"/>
            <a:ext cx="82296" cy="2103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4462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Home/Away Outcome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75904" y="486460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team1 = winner THEN “Team 1 Won” 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75904" y="5715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win comparison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Headline KPIs, Front and Center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with the dashboard opens on these tiles — an instant pulse-check before drilling into any single season, team, or player.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19272" y="196596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9904" y="196596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72784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0536" y="196596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3416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43416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Batters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19272" y="393192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02152" y="4892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Runs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9904" y="393192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72784" y="4892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Fours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60536" y="3931920"/>
            <a:ext cx="2560320" cy="1737360"/>
          </a:xfrm>
          <a:prstGeom prst="rect">
            <a:avLst>
              <a:gd name="adj" fmla="val 4211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43416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43416" y="4892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Sixes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GROUP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&amp; Season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3564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396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965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by Season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1819656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matches played each year, 2008–2024 — flags expansion years and COVID-affected seasons.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083564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49300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62102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300984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by Venue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3300984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stadiums have hosted the most fixtures, highlighting venue concentration.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54296"/>
            <a:ext cx="1083564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974336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02352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7823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Won by Team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92040" y="4782312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wins per franchise across the full history of the league.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GROUP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by Season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 scored league-wide each year — tracks scoring inflation over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01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by Batting Team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1671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runs per franchise, a proxy for batting-unit strength.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949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55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Run Scorers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72160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leading batters by cumulative Player Total Runs.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53949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55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Four &amp; Six Hitters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72160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specialists ranked by total fours and sixes struck.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1852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10328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 Rate Comparison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276088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tempo across players/teams using SUM(batsman_runs)/COUNT(ball)×100.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GROUP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Bowling &amp; Match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ect">
            <a:avLst>
              <a:gd name="adj" fmla="val 1489"/>
            </a:avLst>
          </a:prstGeom>
          <a:solidFill>
            <a:srgbClr val="0B1F3A"/>
          </a:solidFill>
          <a:ln/>
        </p:spPr>
      </p:sp>
      <p:pic>
        <p:nvPicPr>
          <p:cNvPr id="5" name="Image 0" descr="w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Bowling Metrics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Rate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008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conceded per over — SUM(total_runs) / (balls/6).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Conceded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7856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 given away, aggregated per bowler.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5628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SUM(is_wicket) across all deliveries.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Kind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3400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Bowled, caught, run out, LBW, and other modes compared.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691640"/>
            <a:ext cx="5486400" cy="4297680"/>
          </a:xfrm>
          <a:prstGeom prst="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6" name="Image 1" descr="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Player of the Match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4652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individuals by number of Player-of-the-Match awards — a single view that blends batting, bowling, and all-round match-winning impact into one leaderboard.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46520" y="3794760"/>
            <a:ext cx="48463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46520" y="4315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players teams build match-day strategy around, independent of role.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GROUP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Toss Decide the Match?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ect">
            <a:avLst>
              <a:gd name="adj" fmla="val 148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5" name="Image 0" descr="t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Winner vs. Match Winner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Cross-tabulates every match's toss_winner against its winner, split further by toss_decision (bat/field first).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field: Toss Result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“Won Toss &amp; Match” vs. “Won Toss, Lost Match” — a binary read on toss advantage, season by season.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532120" cy="4297680"/>
          </a:xfrm>
          <a:prstGeom prst="rect">
            <a:avLst>
              <a:gd name="adj" fmla="val 148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1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011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Home/Away Outcome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calculated field compares team1 vs. team2 to the recorded winner, framing results as "Team 1 Won" vs. "Team 2 Won" rather than by name.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0" y="3749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views let analysts test a common cricket narrative — that batting/fielding first and match order confer an edge — against 17 seasons of evidence, rather than assuming it.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Exploration, Not Just Viewing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designed as a self-serve tool: any stakeholder — analyst, franchise staff, or fan — can slice every KPI and chart without touching the underlying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0" descr="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&amp; Team Filters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Filter1 / Filter2 let users isolate a single season or franchise across every linked worksheet at once.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3566160"/>
          </a:xfrm>
          <a:prstGeom prst="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42316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6060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337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Total Runs (bin)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batters into 500-run bands, turning a long tail of names into a readable distribution.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3566160"/>
          </a:xfrm>
          <a:prstGeom prst="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42316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magn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06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337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Cross-Highlighting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6676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bar in one worksheet (e.g., a team) highlights that team everywhere it appears on the dashboard.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Lets You Decide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18520" cy="1005840"/>
          </a:xfrm>
          <a:prstGeom prst="rect">
            <a:avLst>
              <a:gd name="adj" fmla="val 5455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strategy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86200" y="1600200"/>
            <a:ext cx="7452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franchise win rates and batting/bowling strength before setting season goals.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1018520" cy="1005840"/>
          </a:xfrm>
          <a:prstGeom prst="rect">
            <a:avLst>
              <a:gd name="adj" fmla="val 5455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70632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scouting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2770632"/>
            <a:ext cx="7452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targets using strike rate, economy, and boundary counts side by side.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1018520" cy="1005840"/>
          </a:xfrm>
          <a:prstGeom prst="rect">
            <a:avLst>
              <a:gd name="adj" fmla="val 5455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41064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&amp; venue tactics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3941064"/>
            <a:ext cx="7452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captains' decisions in season- and venue-specific toss-outcome evidence.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11496"/>
            <a:ext cx="11018520" cy="1005840"/>
          </a:xfrm>
          <a:prstGeom prst="rect">
            <a:avLst>
              <a:gd name="adj" fmla="val 5455"/>
            </a:avLst>
          </a:prstGeom>
          <a:solidFill>
            <a:srgbClr val="102A4C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11496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&amp; fan content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5111496"/>
            <a:ext cx="7452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top-scorer, six-hitting, and Player-of-the-Match leaderboards into storylines.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Match &amp; Ball-by-Ball Analysis  |  2008–2024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071426"/>
          </a:solidFill>
          <a:ln/>
        </p:spPr>
      </p:sp>
      <p:pic>
        <p:nvPicPr>
          <p:cNvPr id="3" name="Image 0" descr="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9202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290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286000" y="4160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methodology, metrics, or a live walkthrough of the dashboard are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2026-07-20T02:38:01Z</dcterms:created>
  <dcterms:modified xsi:type="dcterms:W3CDTF">2026-07-20T02:38:01Z</dcterms:modified>
</cp:coreProperties>
</file>